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 />
  <Relationship Id="rId2" Type="http://schemas.openxmlformats.org/package/2006/relationships/metadata/core-properties" Target="docProps/core.xml" />
  <Relationship Id="rId3" Type="http://schemas.openxmlformats.org/officeDocument/2006/relationships/extended-properties" Target="docProps/app.xml" 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saveSubsetFonts="1" autoCompressPictures="0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 autoAdjust="0"/>
    <p:restoredTop sz="94660" autoAdjust="0"/>
  </p:normalViewPr>
  <p:slideViewPr/>
  <p:notesTextViewPr/>
  <p:gridSpacing cx="780288" cy="78028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 />
  <Relationship Id="rId2" Type="http://schemas.openxmlformats.org/officeDocument/2006/relationships/presProps" Target="presProps.xml" />
  <Relationship Id="rId3" Type="http://schemas.openxmlformats.org/officeDocument/2006/relationships/viewProps" Target="viewProps.xml" />
  <Relationship Id="rId4" Type="http://schemas.openxmlformats.org/officeDocument/2006/relationships/tableStyles" Target="tableStyles.xml" />
  <Relationship Id="rId5" Type="http://schemas.openxmlformats.org/officeDocument/2006/relationships/slide" Target="slides/slide1.xml" />
  <Relationship Id="rId6" Type="http://schemas.openxmlformats.org/officeDocument/2006/relationships/slide" Target="slides/slide2.xml" />
  <Relationship Id="rId7" Type="http://schemas.openxmlformats.org/officeDocument/2006/relationships/slide" Target="slides/slide3.xml" />
  <Relationship Id="rId8" Type="http://schemas.openxmlformats.org/officeDocument/2006/relationships/slide" Target="slides/slide4.xml" />
  <Relationship Id="rId9" Type="http://schemas.openxmlformats.org/officeDocument/2006/relationships/slide" Target="slides/slide5.xml" />
  <Relationship Id="rId10" Type="http://schemas.openxmlformats.org/officeDocument/2006/relationships/slide" Target="slides/slide6.xml" />
  <Relationship Id="rId11" Type="http://schemas.openxmlformats.org/officeDocument/2006/relationships/slide" Target="slides/slide7.xml" />
  <Relationship Id="rId12" Type="http://schemas.openxmlformats.org/officeDocument/2006/relationships/slide" Target="slides/slide8.xml" />
  <Relationship Id="rId13" Type="http://schemas.openxmlformats.org/officeDocument/2006/relationships/slide" Target="slides/slide9.xml" />
  <Relationship Id="rId14" Type="http://schemas.openxmlformats.org/officeDocument/2006/relationships/slide" Target="slides/slide10.xml" />
  <Relationship Id="rId15" Type="http://schemas.openxmlformats.org/officeDocument/2006/relationships/slide" Target="slides/slide11.xml" />
  <Relationship Id="rId16" Type="http://schemas.openxmlformats.org/officeDocument/2006/relationships/slide" Target="slides/slide12.xml" />
  <Relationship Id="rId17" Type="http://schemas.openxmlformats.org/officeDocument/2006/relationships/slide" Target="slides/slide13.xml" />
  <Relationship Id="rId18" Type="http://schemas.openxmlformats.org/officeDocument/2006/relationships/slide" Target="slides/slide14.xml" />
  <Relationship Id="rId19" Type="http://schemas.openxmlformats.org/officeDocument/2006/relationships/slide" Target="slides/slide15.xml" 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theme" Target="../theme/theme1.xml" 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KYA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/>
    </p:titleStyle>
    <p:bodyStyle>
      <a:lvl1pPr algn="l" marL="0" indent="0"/>
    </p:bodyStyle>
    <p:otherStyle>
      <a:lvl1pPr algn="l"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ten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50000"/>
          </a:xfrm>
          <a:prstGeom prst="rect">
            <a:avLst/>
          </a:prstGeom>
          <a:solidFill>
            <a:srgbClr val="121B53"/>
          </a:solidFill>
          <a:ln w="12700">
            <a:solidFill>
              <a:srgbClr val="121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Accent bar"/>
          <p:cNvSpPr/>
          <p:nvPr/>
        </p:nvSpPr>
        <p:spPr>
          <a:xfrm>
            <a:off x="0" y="350000"/>
            <a:ext cx="450000" cy="6508000"/>
          </a:xfrm>
          <a:prstGeom prst="rect">
            <a:avLst/>
          </a:prstGeom>
          <a:solidFill>
            <a:srgbClr val="2C44B6"/>
          </a:solidFill>
          <a:ln w="12700">
            <a:solidFill>
              <a:srgbClr val="2C4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Title box"/>
          <p:cNvSpPr txBox="1"/>
          <p:nvPr/>
        </p:nvSpPr>
        <p:spPr>
          <a:xfrm>
            <a:off x="720000" y="580000"/>
            <a:ext cx="6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600" b="1"/>
              <a:t>PROJET DE FIN DE CYCLE</a:t>
            </a:r>
            <a:endParaRPr lang="fr-FR" sz="1600"/>
          </a:p>
          <a:p>
            <a:pPr algn="l"/>
            <a:r>
              <a:rPr lang="fr-FR" sz="3000" b="1"/>
              <a:t>Soutenance</a:t>
            </a:r>
            <a:endParaRPr lang="fr-FR" sz="3000"/>
          </a:p>
          <a:p>
            <a:pPr algn="l"/>
            <a:r>
              <a:rPr lang="fr-FR" sz="1800"/>
              <a:t>KYA (Keur Ya Aicha) - Plateforme de gestion locative multi-roles</a:t>
            </a:r>
            <a:endParaRPr lang="fr-FR" sz="1800"/>
          </a:p>
        </p:txBody>
      </p:sp>
      <p:sp>
        <p:nvSpPr>
          <p:cNvPr id="5" name="Body box"/>
          <p:cNvSpPr txBox="1"/>
          <p:nvPr/>
        </p:nvSpPr>
        <p:spPr>
          <a:xfrm>
            <a:off x="720000" y="2200000"/>
            <a:ext cx="6500000" cy="3200000"/>
          </a:xfrm>
          <a:prstGeom prst="rect">
            <a:avLst/>
          </a:prstGeom>
          <a:solidFill>
            <a:srgbClr val="EEF4FF"/>
          </a:solidFill>
          <a:ln w="19050">
            <a:solidFill>
              <a:srgbClr val="C7D3F2"/>
            </a:solidFill>
          </a:ln>
        </p:spPr>
        <p:txBody>
          <a:bodyPr wrap="square" lIns="152400" tIns="114300" rIns="152400" bIns="114300" anchor="t"/>
          <a:lstStyle/>
          <a:p>
            <a:pPr marL="342900" indent="-228600">
              <a:buChar char="•"/>
            </a:pPr>
            <a:r>
              <a:rPr lang="fr-FR" sz="2000"/>
              <a:t>Presente par Papa Malick Teuw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Developpeur Full Stack Web et Mobile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Orange Digital Center - 2025-2026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Encadrement: M. Birane Bailla Wone</a:t>
            </a:r>
            <a:endParaRPr lang="fr-FR" sz="2000"/>
          </a:p>
        </p:txBody>
      </p:sp>
      <p:sp>
        <p:nvSpPr>
          <p:cNvPr id="6" name="Footer box"/>
          <p:cNvSpPr txBox="1"/>
          <p:nvPr/>
        </p:nvSpPr>
        <p:spPr>
          <a:xfrm>
            <a:off x="720000" y="6100000"/>
            <a:ext cx="3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200" b="1"/>
              <a:t>KYA (Keur Ya Aicha) • Slide 1</a:t>
            </a:r>
            <a:endParaRPr lang="fr-FR" sz="1200"/>
          </a:p>
        </p:txBody>
      </p:sp>
      <p:sp>
        <p:nvSpPr>
          <p:cNvPr id="7" name="Page bubble"/>
          <p:cNvSpPr txBox="1"/>
          <p:nvPr/>
        </p:nvSpPr>
        <p:spPr>
          <a:xfrm>
            <a:off x="10800000" y="6050000"/>
            <a:ext cx="600000" cy="420000"/>
          </a:xfrm>
          <a:prstGeom prst="rect">
            <a:avLst/>
          </a:prstGeom>
          <a:solidFill>
            <a:srgbClr val="121B53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500" b="1"/>
              <a:t>1</a:t>
            </a:r>
            <a:endParaRPr lang="fr-FR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at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50000"/>
          </a:xfrm>
          <a:prstGeom prst="rect">
            <a:avLst/>
          </a:prstGeom>
          <a:solidFill>
            <a:srgbClr val="121B53"/>
          </a:solidFill>
          <a:ln w="12700">
            <a:solidFill>
              <a:srgbClr val="121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Accent bar"/>
          <p:cNvSpPr/>
          <p:nvPr/>
        </p:nvSpPr>
        <p:spPr>
          <a:xfrm>
            <a:off x="0" y="350000"/>
            <a:ext cx="450000" cy="6508000"/>
          </a:xfrm>
          <a:prstGeom prst="rect">
            <a:avLst/>
          </a:prstGeom>
          <a:solidFill>
            <a:srgbClr val="2C44B6"/>
          </a:solidFill>
          <a:ln w="12700">
            <a:solidFill>
              <a:srgbClr val="2C4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Title box"/>
          <p:cNvSpPr txBox="1"/>
          <p:nvPr/>
        </p:nvSpPr>
        <p:spPr>
          <a:xfrm>
            <a:off x="720000" y="580000"/>
            <a:ext cx="6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600" b="1"/>
              <a:t>CONSTAT DE DEPART</a:t>
            </a:r>
            <a:endParaRPr lang="fr-FR" sz="1600"/>
          </a:p>
          <a:p>
            <a:pPr algn="l"/>
            <a:r>
              <a:rPr lang="fr-FR" sz="3000" b="1"/>
              <a:t>Problematique</a:t>
            </a:r>
            <a:endParaRPr lang="fr-FR" sz="3000"/>
          </a:p>
          <a:p>
            <a:pPr algn="l"/>
            <a:r>
              <a:rPr lang="fr-FR" sz="1800"/>
              <a:t>Pourquoi ce projet ?</a:t>
            </a:r>
            <a:endParaRPr lang="fr-FR" sz="1800"/>
          </a:p>
        </p:txBody>
      </p:sp>
      <p:sp>
        <p:nvSpPr>
          <p:cNvPr id="5" name="Body box"/>
          <p:cNvSpPr txBox="1"/>
          <p:nvPr/>
        </p:nvSpPr>
        <p:spPr>
          <a:xfrm>
            <a:off x="720000" y="2200000"/>
            <a:ext cx="6500000" cy="3200000"/>
          </a:xfrm>
          <a:prstGeom prst="rect">
            <a:avLst/>
          </a:prstGeom>
          <a:solidFill>
            <a:srgbClr val="EEF4FF"/>
          </a:solidFill>
          <a:ln w="19050">
            <a:solidFill>
              <a:srgbClr val="C7D3F2"/>
            </a:solidFill>
          </a:ln>
        </p:spPr>
        <p:txBody>
          <a:bodyPr wrap="square" lIns="152400" tIns="114300" rIns="152400" bIns="114300" anchor="t"/>
          <a:lstStyle/>
          <a:p>
            <a:pPr marL="342900" indent="-228600">
              <a:buChar char="•"/>
            </a:pPr>
            <a:r>
              <a:rPr lang="fr-FR" sz="2000"/>
              <a:t>La gestion locative manuelle produit des doublons et des oublis.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Les paiements et depots sont difficiles a suivre sans historique centralise.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Les documents restent souvent disperses et peu relies aux dossiers clients.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Sans gouvernance ni audit, le controle multi-acteurs reste fragile.</a:t>
            </a:r>
            <a:endParaRPr lang="fr-FR" sz="2000"/>
          </a:p>
        </p:txBody>
      </p:sp>
      <p:sp>
        <p:nvSpPr>
          <p:cNvPr id="6" name="Footer box"/>
          <p:cNvSpPr txBox="1"/>
          <p:nvPr/>
        </p:nvSpPr>
        <p:spPr>
          <a:xfrm>
            <a:off x="720000" y="6100000"/>
            <a:ext cx="3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200" b="1"/>
              <a:t>KYA (Keur Ya Aicha) • Slide 2</a:t>
            </a:r>
            <a:endParaRPr lang="fr-FR" sz="1200"/>
          </a:p>
        </p:txBody>
      </p:sp>
      <p:sp>
        <p:nvSpPr>
          <p:cNvPr id="7" name="Page bubble"/>
          <p:cNvSpPr txBox="1"/>
          <p:nvPr/>
        </p:nvSpPr>
        <p:spPr>
          <a:xfrm>
            <a:off x="10800000" y="6050000"/>
            <a:ext cx="600000" cy="420000"/>
          </a:xfrm>
          <a:prstGeom prst="rect">
            <a:avLst/>
          </a:prstGeom>
          <a:solidFill>
            <a:srgbClr val="121B53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500" b="1"/>
              <a:t>2</a:t>
            </a:r>
            <a:endParaRPr lang="fr-FR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bjectif et va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50000"/>
          </a:xfrm>
          <a:prstGeom prst="rect">
            <a:avLst/>
          </a:prstGeom>
          <a:solidFill>
            <a:srgbClr val="121B53"/>
          </a:solidFill>
          <a:ln w="12700">
            <a:solidFill>
              <a:srgbClr val="121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Accent bar"/>
          <p:cNvSpPr/>
          <p:nvPr/>
        </p:nvSpPr>
        <p:spPr>
          <a:xfrm>
            <a:off x="0" y="350000"/>
            <a:ext cx="450000" cy="6508000"/>
          </a:xfrm>
          <a:prstGeom prst="rect">
            <a:avLst/>
          </a:prstGeom>
          <a:solidFill>
            <a:srgbClr val="2C44B6"/>
          </a:solidFill>
          <a:ln w="12700">
            <a:solidFill>
              <a:srgbClr val="2C4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Title box"/>
          <p:cNvSpPr txBox="1"/>
          <p:nvPr/>
        </p:nvSpPr>
        <p:spPr>
          <a:xfrm>
            <a:off x="720000" y="580000"/>
            <a:ext cx="6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600" b="1"/>
              <a:t>CE QUE KYA APPORTE</a:t>
            </a:r>
            <a:endParaRPr lang="fr-FR" sz="1600"/>
          </a:p>
          <a:p>
            <a:pPr algn="l"/>
            <a:r>
              <a:rPr lang="fr-FR" sz="3000" b="1"/>
              <a:t>Objectif et valeur</a:t>
            </a:r>
            <a:endParaRPr lang="fr-FR" sz="3000"/>
          </a:p>
          <a:p>
            <a:pPr algn="l"/>
            <a:r>
              <a:rPr lang="fr-FR" sz="1800"/>
              <a:t>Une solution complete et exploitable</a:t>
            </a:r>
            <a:endParaRPr lang="fr-FR" sz="1800"/>
          </a:p>
        </p:txBody>
      </p:sp>
      <p:sp>
        <p:nvSpPr>
          <p:cNvPr id="5" name="Body box"/>
          <p:cNvSpPr txBox="1"/>
          <p:nvPr/>
        </p:nvSpPr>
        <p:spPr>
          <a:xfrm>
            <a:off x="720000" y="2200000"/>
            <a:ext cx="6500000" cy="3200000"/>
          </a:xfrm>
          <a:prstGeom prst="rect">
            <a:avLst/>
          </a:prstGeom>
          <a:solidFill>
            <a:srgbClr val="EEF4FF"/>
          </a:solidFill>
          <a:ln w="19050">
            <a:solidFill>
              <a:srgbClr val="C7D3F2"/>
            </a:solidFill>
          </a:ln>
        </p:spPr>
        <p:txBody>
          <a:bodyPr wrap="square" lIns="152400" tIns="114300" rIns="152400" bIns="114300" anchor="t"/>
          <a:lstStyle/>
          <a:p>
            <a:pPr marL="342900" indent="-228600">
              <a:buChar char="•"/>
            </a:pPr>
            <a:r>
              <a:rPr lang="fr-FR" sz="2000"/>
              <a:t>Centraliser clients, locations, paiements, cautions et documents.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Distinguer clairement Super Admin, Admin et Client.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Permettre l import Excel / CSV / JSON avec controle anti-doublon.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Offrir un produit deployable sur web et exploitable sur desktop Electron.</a:t>
            </a:r>
            <a:endParaRPr lang="fr-FR" sz="2000"/>
          </a:p>
        </p:txBody>
      </p:sp>
      <p:sp>
        <p:nvSpPr>
          <p:cNvPr id="6" name="Footer box"/>
          <p:cNvSpPr txBox="1"/>
          <p:nvPr/>
        </p:nvSpPr>
        <p:spPr>
          <a:xfrm>
            <a:off x="720000" y="6100000"/>
            <a:ext cx="3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200" b="1"/>
              <a:t>KYA (Keur Ya Aicha) • Slide 3</a:t>
            </a:r>
            <a:endParaRPr lang="fr-FR" sz="1200"/>
          </a:p>
        </p:txBody>
      </p:sp>
      <p:sp>
        <p:nvSpPr>
          <p:cNvPr id="7" name="Page bubble"/>
          <p:cNvSpPr txBox="1"/>
          <p:nvPr/>
        </p:nvSpPr>
        <p:spPr>
          <a:xfrm>
            <a:off x="10800000" y="6050000"/>
            <a:ext cx="600000" cy="420000"/>
          </a:xfrm>
          <a:prstGeom prst="rect">
            <a:avLst/>
          </a:prstGeom>
          <a:solidFill>
            <a:srgbClr val="121B53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500" b="1"/>
              <a:t>3</a:t>
            </a:r>
            <a:endParaRPr lang="fr-FR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cteurs et perime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50000"/>
          </a:xfrm>
          <a:prstGeom prst="rect">
            <a:avLst/>
          </a:prstGeom>
          <a:solidFill>
            <a:srgbClr val="121B53"/>
          </a:solidFill>
          <a:ln w="12700">
            <a:solidFill>
              <a:srgbClr val="121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Accent bar"/>
          <p:cNvSpPr/>
          <p:nvPr/>
        </p:nvSpPr>
        <p:spPr>
          <a:xfrm>
            <a:off x="0" y="350000"/>
            <a:ext cx="450000" cy="6508000"/>
          </a:xfrm>
          <a:prstGeom prst="rect">
            <a:avLst/>
          </a:prstGeom>
          <a:solidFill>
            <a:srgbClr val="2C44B6"/>
          </a:solidFill>
          <a:ln w="12700">
            <a:solidFill>
              <a:srgbClr val="2C4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Title box"/>
          <p:cNvSpPr txBox="1"/>
          <p:nvPr/>
        </p:nvSpPr>
        <p:spPr>
          <a:xfrm>
            <a:off x="720000" y="580000"/>
            <a:ext cx="6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600" b="1"/>
              <a:t>ANALYSE FONCTIONNELLE</a:t>
            </a:r>
            <a:endParaRPr lang="fr-FR" sz="1600"/>
          </a:p>
          <a:p>
            <a:pPr algn="l"/>
            <a:r>
              <a:rPr lang="fr-FR" sz="3000" b="1"/>
              <a:t>Acteurs et perimetre</a:t>
            </a:r>
            <a:endParaRPr lang="fr-FR" sz="3000"/>
          </a:p>
          <a:p>
            <a:pPr algn="l"/>
            <a:r>
              <a:rPr lang="fr-FR" sz="1800"/>
              <a:t>Qui fait quoi dans le systeme ?</a:t>
            </a:r>
            <a:endParaRPr lang="fr-FR" sz="1800"/>
          </a:p>
        </p:txBody>
      </p:sp>
      <p:sp>
        <p:nvSpPr>
          <p:cNvPr id="5" name="Body box"/>
          <p:cNvSpPr txBox="1"/>
          <p:nvPr/>
        </p:nvSpPr>
        <p:spPr>
          <a:xfrm>
            <a:off x="720000" y="2200000"/>
            <a:ext cx="6500000" cy="3200000"/>
          </a:xfrm>
          <a:prstGeom prst="rect">
            <a:avLst/>
          </a:prstGeom>
          <a:solidFill>
            <a:srgbClr val="EEF4FF"/>
          </a:solidFill>
          <a:ln w="19050">
            <a:solidFill>
              <a:srgbClr val="C7D3F2"/>
            </a:solidFill>
          </a:ln>
        </p:spPr>
        <p:txBody>
          <a:bodyPr wrap="square" lIns="152400" tIns="114300" rIns="152400" bIns="114300" anchor="t"/>
          <a:lstStyle/>
          <a:p>
            <a:pPr marL="342900" indent="-228600">
              <a:buChar char="•"/>
            </a:pPr>
            <a:r>
              <a:rPr lang="fr-FR" sz="2000"/>
              <a:t>Super Admin : approbation, gouvernance, maintenance, impersonation, supervision.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Admin : gestion de ses clients, locations, paiements, imports et documents.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Client : reçoit les informations, recus et relances le concernant.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Services externes : paiement, Cloudinary, Brevo.</a:t>
            </a:r>
            <a:endParaRPr lang="fr-FR" sz="2000"/>
          </a:p>
        </p:txBody>
      </p:sp>
      <p:sp>
        <p:nvSpPr>
          <p:cNvPr id="6" name="Footer box"/>
          <p:cNvSpPr txBox="1"/>
          <p:nvPr/>
        </p:nvSpPr>
        <p:spPr>
          <a:xfrm>
            <a:off x="720000" y="6100000"/>
            <a:ext cx="3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200" b="1"/>
              <a:t>KYA (Keur Ya Aicha) • Slide 4</a:t>
            </a:r>
            <a:endParaRPr lang="fr-FR" sz="1200"/>
          </a:p>
        </p:txBody>
      </p:sp>
      <p:sp>
        <p:nvSpPr>
          <p:cNvPr id="7" name="Page bubble"/>
          <p:cNvSpPr txBox="1"/>
          <p:nvPr/>
        </p:nvSpPr>
        <p:spPr>
          <a:xfrm>
            <a:off x="10800000" y="6050000"/>
            <a:ext cx="600000" cy="420000"/>
          </a:xfrm>
          <a:prstGeom prst="rect">
            <a:avLst/>
          </a:prstGeom>
          <a:solidFill>
            <a:srgbClr val="121B53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500" b="1"/>
              <a:t>4</a:t>
            </a:r>
            <a:endParaRPr lang="fr-FR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chitecture glob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50000"/>
          </a:xfrm>
          <a:prstGeom prst="rect">
            <a:avLst/>
          </a:prstGeom>
          <a:solidFill>
            <a:srgbClr val="121B53"/>
          </a:solidFill>
          <a:ln w="12700">
            <a:solidFill>
              <a:srgbClr val="121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Accent bar"/>
          <p:cNvSpPr/>
          <p:nvPr/>
        </p:nvSpPr>
        <p:spPr>
          <a:xfrm>
            <a:off x="0" y="350000"/>
            <a:ext cx="450000" cy="6508000"/>
          </a:xfrm>
          <a:prstGeom prst="rect">
            <a:avLst/>
          </a:prstGeom>
          <a:solidFill>
            <a:srgbClr val="2C44B6"/>
          </a:solidFill>
          <a:ln w="12700">
            <a:solidFill>
              <a:srgbClr val="2C4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Title box"/>
          <p:cNvSpPr txBox="1"/>
          <p:nvPr/>
        </p:nvSpPr>
        <p:spPr>
          <a:xfrm>
            <a:off x="720000" y="580000"/>
            <a:ext cx="6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600" b="1"/>
              <a:t>VUE D ENSEMBLE</a:t>
            </a:r>
            <a:endParaRPr lang="fr-FR" sz="1600"/>
          </a:p>
          <a:p>
            <a:pPr algn="l"/>
            <a:r>
              <a:rPr lang="fr-FR" sz="3000" b="1"/>
              <a:t>Architecture globale</a:t>
            </a:r>
            <a:endParaRPr lang="fr-FR" sz="3000"/>
          </a:p>
          <a:p>
            <a:pPr algn="l"/>
            <a:r>
              <a:rPr lang="fr-FR" sz="1800"/>
              <a:t>Frontend, backend, base et services externes</a:t>
            </a:r>
            <a:endParaRPr lang="fr-FR" sz="1800"/>
          </a:p>
        </p:txBody>
      </p:sp>
      <p:sp>
        <p:nvSpPr>
          <p:cNvPr id="5" name="Body box"/>
          <p:cNvSpPr txBox="1"/>
          <p:nvPr/>
        </p:nvSpPr>
        <p:spPr>
          <a:xfrm>
            <a:off x="720000" y="2200000"/>
            <a:ext cx="6500000" cy="3200000"/>
          </a:xfrm>
          <a:prstGeom prst="rect">
            <a:avLst/>
          </a:prstGeom>
          <a:solidFill>
            <a:srgbClr val="EEF4FF"/>
          </a:solidFill>
          <a:ln w="19050">
            <a:solidFill>
              <a:srgbClr val="C7D3F2"/>
            </a:solidFill>
          </a:ln>
        </p:spPr>
        <p:txBody>
          <a:bodyPr wrap="square" lIns="152400" tIns="114300" rIns="152400" bIns="114300" anchor="t"/>
          <a:lstStyle/>
          <a:p>
            <a:pPr marL="342900" indent="-228600">
              <a:buChar char="•"/>
            </a:pPr>
            <a:r>
              <a:rPr lang="fr-FR" sz="2000"/>
              <a:t>Frontend React/Vite/TypeScript pour l interface metier.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Backend Next.js App Router structure en couches.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PostgreSQL via Prisma pour la persistence relationnelle.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Brevo, Cloudinary et provider de paiement comme integrations externes.</a:t>
            </a:r>
            <a:endParaRPr lang="fr-FR" sz="2000"/>
          </a:p>
        </p:txBody>
      </p:sp>
      <p:sp>
        <p:nvSpPr>
          <p:cNvPr id="6" name="Footer box"/>
          <p:cNvSpPr txBox="1"/>
          <p:nvPr/>
        </p:nvSpPr>
        <p:spPr>
          <a:xfrm>
            <a:off x="720000" y="6100000"/>
            <a:ext cx="3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200" b="1"/>
              <a:t>KYA (Keur Ya Aicha) • Slide 5</a:t>
            </a:r>
            <a:endParaRPr lang="fr-FR" sz="1200"/>
          </a:p>
        </p:txBody>
      </p:sp>
      <p:sp>
        <p:nvSpPr>
          <p:cNvPr id="7" name="Page bubble"/>
          <p:cNvSpPr txBox="1"/>
          <p:nvPr/>
        </p:nvSpPr>
        <p:spPr>
          <a:xfrm>
            <a:off x="10800000" y="6050000"/>
            <a:ext cx="600000" cy="420000"/>
          </a:xfrm>
          <a:prstGeom prst="rect">
            <a:avLst/>
          </a:prstGeom>
          <a:solidFill>
            <a:srgbClr val="121B53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500" b="1"/>
              <a:t>5</a:t>
            </a:r>
            <a:endParaRPr lang="fr-FR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chitecture front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50000"/>
          </a:xfrm>
          <a:prstGeom prst="rect">
            <a:avLst/>
          </a:prstGeom>
          <a:solidFill>
            <a:srgbClr val="121B53"/>
          </a:solidFill>
          <a:ln w="12700">
            <a:solidFill>
              <a:srgbClr val="121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Accent bar"/>
          <p:cNvSpPr/>
          <p:nvPr/>
        </p:nvSpPr>
        <p:spPr>
          <a:xfrm>
            <a:off x="0" y="350000"/>
            <a:ext cx="450000" cy="6508000"/>
          </a:xfrm>
          <a:prstGeom prst="rect">
            <a:avLst/>
          </a:prstGeom>
          <a:solidFill>
            <a:srgbClr val="2C44B6"/>
          </a:solidFill>
          <a:ln w="12700">
            <a:solidFill>
              <a:srgbClr val="2C4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Title box"/>
          <p:cNvSpPr txBox="1"/>
          <p:nvPr/>
        </p:nvSpPr>
        <p:spPr>
          <a:xfrm>
            <a:off x="720000" y="580000"/>
            <a:ext cx="6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600" b="1"/>
              <a:t>COUCHE PRESENTATION</a:t>
            </a:r>
            <a:endParaRPr lang="fr-FR" sz="1600"/>
          </a:p>
          <a:p>
            <a:pPr algn="l"/>
            <a:r>
              <a:rPr lang="fr-FR" sz="3000" b="1"/>
              <a:t>Architecture frontend</a:t>
            </a:r>
            <a:endParaRPr lang="fr-FR" sz="3000"/>
          </a:p>
          <a:p>
            <a:pPr algn="l"/>
            <a:r>
              <a:rPr lang="fr-FR" sz="1800"/>
              <a:t>Organisation du web et du desktop</a:t>
            </a:r>
            <a:endParaRPr lang="fr-FR" sz="1800"/>
          </a:p>
        </p:txBody>
      </p:sp>
      <p:sp>
        <p:nvSpPr>
          <p:cNvPr id="5" name="Body box"/>
          <p:cNvSpPr txBox="1"/>
          <p:nvPr/>
        </p:nvSpPr>
        <p:spPr>
          <a:xfrm>
            <a:off x="720000" y="2200000"/>
            <a:ext cx="6500000" cy="3200000"/>
          </a:xfrm>
          <a:prstGeom prst="rect">
            <a:avLst/>
          </a:prstGeom>
          <a:solidFill>
            <a:srgbClr val="EEF4FF"/>
          </a:solidFill>
          <a:ln w="19050">
            <a:solidFill>
              <a:srgbClr val="C7D3F2"/>
            </a:solidFill>
          </a:ln>
        </p:spPr>
        <p:txBody>
          <a:bodyPr wrap="square" lIns="152400" tIns="114300" rIns="152400" bIns="114300" anchor="t"/>
          <a:lstStyle/>
          <a:p>
            <a:pPr marL="342900" indent="-228600">
              <a:buChar char="•"/>
            </a:pPr>
            <a:r>
              <a:rPr lang="fr-FR" sz="2000"/>
              <a:t>React Router pour la navigation et les gardes de routes.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AuthContext pour la session et les permissions.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Zustand pour centraliser les donnees metier.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Composants reutilisables et configuration runtime de l API.</a:t>
            </a:r>
            <a:endParaRPr lang="fr-FR" sz="2000"/>
          </a:p>
        </p:txBody>
      </p:sp>
      <p:sp>
        <p:nvSpPr>
          <p:cNvPr id="6" name="Footer box"/>
          <p:cNvSpPr txBox="1"/>
          <p:nvPr/>
        </p:nvSpPr>
        <p:spPr>
          <a:xfrm>
            <a:off x="720000" y="6100000"/>
            <a:ext cx="3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200" b="1"/>
              <a:t>KYA (Keur Ya Aicha) • Slide 6</a:t>
            </a:r>
            <a:endParaRPr lang="fr-FR" sz="1200"/>
          </a:p>
        </p:txBody>
      </p:sp>
      <p:sp>
        <p:nvSpPr>
          <p:cNvPr id="7" name="Page bubble"/>
          <p:cNvSpPr txBox="1"/>
          <p:nvPr/>
        </p:nvSpPr>
        <p:spPr>
          <a:xfrm>
            <a:off x="10800000" y="6050000"/>
            <a:ext cx="600000" cy="420000"/>
          </a:xfrm>
          <a:prstGeom prst="rect">
            <a:avLst/>
          </a:prstGeom>
          <a:solidFill>
            <a:srgbClr val="121B53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500" b="1"/>
              <a:t>6</a:t>
            </a:r>
            <a:endParaRPr lang="fr-FR"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chitecture back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50000"/>
          </a:xfrm>
          <a:prstGeom prst="rect">
            <a:avLst/>
          </a:prstGeom>
          <a:solidFill>
            <a:srgbClr val="121B53"/>
          </a:solidFill>
          <a:ln w="12700">
            <a:solidFill>
              <a:srgbClr val="121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Accent bar"/>
          <p:cNvSpPr/>
          <p:nvPr/>
        </p:nvSpPr>
        <p:spPr>
          <a:xfrm>
            <a:off x="0" y="350000"/>
            <a:ext cx="450000" cy="6508000"/>
          </a:xfrm>
          <a:prstGeom prst="rect">
            <a:avLst/>
          </a:prstGeom>
          <a:solidFill>
            <a:srgbClr val="2C44B6"/>
          </a:solidFill>
          <a:ln w="12700">
            <a:solidFill>
              <a:srgbClr val="2C4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Title box"/>
          <p:cNvSpPr txBox="1"/>
          <p:nvPr/>
        </p:nvSpPr>
        <p:spPr>
          <a:xfrm>
            <a:off x="720000" y="580000"/>
            <a:ext cx="6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600" b="1"/>
              <a:t>COUCHE METIER</a:t>
            </a:r>
            <a:endParaRPr lang="fr-FR" sz="1600"/>
          </a:p>
          <a:p>
            <a:pPr algn="l"/>
            <a:r>
              <a:rPr lang="fr-FR" sz="3000" b="1"/>
              <a:t>Architecture backend</a:t>
            </a:r>
            <a:endParaRPr lang="fr-FR" sz="3000"/>
          </a:p>
          <a:p>
            <a:pPr algn="l"/>
            <a:r>
              <a:rPr lang="fr-FR" sz="1800"/>
              <a:t>POO, SOLID, services et DAO</a:t>
            </a:r>
            <a:endParaRPr lang="fr-FR" sz="1800"/>
          </a:p>
        </p:txBody>
      </p:sp>
      <p:sp>
        <p:nvSpPr>
          <p:cNvPr id="5" name="Body box"/>
          <p:cNvSpPr txBox="1"/>
          <p:nvPr/>
        </p:nvSpPr>
        <p:spPr>
          <a:xfrm>
            <a:off x="720000" y="2200000"/>
            <a:ext cx="6500000" cy="3200000"/>
          </a:xfrm>
          <a:prstGeom prst="rect">
            <a:avLst/>
          </a:prstGeom>
          <a:solidFill>
            <a:srgbClr val="EEF4FF"/>
          </a:solidFill>
          <a:ln w="19050">
            <a:solidFill>
              <a:srgbClr val="C7D3F2"/>
            </a:solidFill>
          </a:ln>
        </p:spPr>
        <p:txBody>
          <a:bodyPr wrap="square" lIns="152400" tIns="114300" rIns="152400" bIns="114300" anchor="t"/>
          <a:lstStyle/>
          <a:p>
            <a:pPr marL="342900" indent="-228600">
              <a:buChar char="•"/>
            </a:pPr>
            <a:r>
              <a:rPr lang="fr-FR" sz="2000"/>
              <a:t>Routes API fines, sans logique metier lourde.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Controleurs et services applicatifs pour l orchestration.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Interfaces DAO / Repository pour decoupler la persistence.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Prisma, audit, securite et notifications comme briques d infrastructure.</a:t>
            </a:r>
            <a:endParaRPr lang="fr-FR" sz="2000"/>
          </a:p>
        </p:txBody>
      </p:sp>
      <p:sp>
        <p:nvSpPr>
          <p:cNvPr id="6" name="Footer box"/>
          <p:cNvSpPr txBox="1"/>
          <p:nvPr/>
        </p:nvSpPr>
        <p:spPr>
          <a:xfrm>
            <a:off x="720000" y="6100000"/>
            <a:ext cx="3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200" b="1"/>
              <a:t>KYA (Keur Ya Aicha) • Slide 7</a:t>
            </a:r>
            <a:endParaRPr lang="fr-FR" sz="1200"/>
          </a:p>
        </p:txBody>
      </p:sp>
      <p:sp>
        <p:nvSpPr>
          <p:cNvPr id="7" name="Page bubble"/>
          <p:cNvSpPr txBox="1"/>
          <p:nvPr/>
        </p:nvSpPr>
        <p:spPr>
          <a:xfrm>
            <a:off x="10800000" y="6050000"/>
            <a:ext cx="600000" cy="420000"/>
          </a:xfrm>
          <a:prstGeom prst="rect">
            <a:avLst/>
          </a:prstGeom>
          <a:solidFill>
            <a:srgbClr val="121B53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500" b="1"/>
              <a:t>7</a:t>
            </a:r>
            <a:endParaRPr lang="fr-FR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ele de donnees et secur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50000"/>
          </a:xfrm>
          <a:prstGeom prst="rect">
            <a:avLst/>
          </a:prstGeom>
          <a:solidFill>
            <a:srgbClr val="121B53"/>
          </a:solidFill>
          <a:ln w="12700">
            <a:solidFill>
              <a:srgbClr val="121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Accent bar"/>
          <p:cNvSpPr/>
          <p:nvPr/>
        </p:nvSpPr>
        <p:spPr>
          <a:xfrm>
            <a:off x="0" y="350000"/>
            <a:ext cx="450000" cy="6508000"/>
          </a:xfrm>
          <a:prstGeom prst="rect">
            <a:avLst/>
          </a:prstGeom>
          <a:solidFill>
            <a:srgbClr val="2C44B6"/>
          </a:solidFill>
          <a:ln w="12700">
            <a:solidFill>
              <a:srgbClr val="2C4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Title box"/>
          <p:cNvSpPr txBox="1"/>
          <p:nvPr/>
        </p:nvSpPr>
        <p:spPr>
          <a:xfrm>
            <a:off x="720000" y="580000"/>
            <a:ext cx="6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600" b="1"/>
              <a:t>FIABILITE DU SYSTEME</a:t>
            </a:r>
            <a:endParaRPr lang="fr-FR" sz="1600"/>
          </a:p>
          <a:p>
            <a:pPr algn="l"/>
            <a:r>
              <a:rPr lang="fr-FR" sz="3000" b="1"/>
              <a:t>Modele de donnees et securite</a:t>
            </a:r>
            <a:endParaRPr lang="fr-FR" sz="3000"/>
          </a:p>
          <a:p>
            <a:pPr algn="l"/>
            <a:r>
              <a:rPr lang="fr-FR" sz="1800"/>
              <a:t>Entites clefs et protections</a:t>
            </a:r>
            <a:endParaRPr lang="fr-FR" sz="1800"/>
          </a:p>
        </p:txBody>
      </p:sp>
      <p:sp>
        <p:nvSpPr>
          <p:cNvPr id="5" name="Body box"/>
          <p:cNvSpPr txBox="1"/>
          <p:nvPr/>
        </p:nvSpPr>
        <p:spPr>
          <a:xfrm>
            <a:off x="720000" y="2200000"/>
            <a:ext cx="6500000" cy="3200000"/>
          </a:xfrm>
          <a:prstGeom prst="rect">
            <a:avLst/>
          </a:prstGeom>
          <a:solidFill>
            <a:srgbClr val="EEF4FF"/>
          </a:solidFill>
          <a:ln w="19050">
            <a:solidFill>
              <a:srgbClr val="C7D3F2"/>
            </a:solidFill>
          </a:ln>
        </p:spPr>
        <p:txBody>
          <a:bodyPr wrap="square" lIns="152400" tIns="114300" rIns="152400" bIns="114300" anchor="t"/>
          <a:lstStyle/>
          <a:p>
            <a:pPr marL="342900" indent="-228600">
              <a:buChar char="•"/>
            </a:pPr>
            <a:r>
              <a:rPr lang="fr-FR" sz="2000"/>
              <a:t>Entites principales : Utilisateur, Admin, Client, Location, Paiement, Document.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ImportRun, Notification et JournalAudit pour la traçabilite.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JWT, cookies, CSRF, blocage IP et seconde authentification Super Admin.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Isolation des donnees par admin et impersonation encadree.</a:t>
            </a:r>
            <a:endParaRPr lang="fr-FR" sz="2000"/>
          </a:p>
        </p:txBody>
      </p:sp>
      <p:sp>
        <p:nvSpPr>
          <p:cNvPr id="6" name="Footer box"/>
          <p:cNvSpPr txBox="1"/>
          <p:nvPr/>
        </p:nvSpPr>
        <p:spPr>
          <a:xfrm>
            <a:off x="720000" y="6100000"/>
            <a:ext cx="3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200" b="1"/>
              <a:t>KYA (Keur Ya Aicha) • Slide 8</a:t>
            </a:r>
            <a:endParaRPr lang="fr-FR" sz="1200"/>
          </a:p>
        </p:txBody>
      </p:sp>
      <p:sp>
        <p:nvSpPr>
          <p:cNvPr id="7" name="Page bubble"/>
          <p:cNvSpPr txBox="1"/>
          <p:nvPr/>
        </p:nvSpPr>
        <p:spPr>
          <a:xfrm>
            <a:off x="10800000" y="6050000"/>
            <a:ext cx="600000" cy="420000"/>
          </a:xfrm>
          <a:prstGeom prst="rect">
            <a:avLst/>
          </a:prstGeom>
          <a:solidFill>
            <a:srgbClr val="121B53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500" b="1"/>
              <a:t>8</a:t>
            </a:r>
            <a:endParaRPr lang="fr-FR"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ande fonctionnal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50000"/>
          </a:xfrm>
          <a:prstGeom prst="rect">
            <a:avLst/>
          </a:prstGeom>
          <a:solidFill>
            <a:srgbClr val="121B53"/>
          </a:solidFill>
          <a:ln w="12700">
            <a:solidFill>
              <a:srgbClr val="121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Accent bar"/>
          <p:cNvSpPr/>
          <p:nvPr/>
        </p:nvSpPr>
        <p:spPr>
          <a:xfrm>
            <a:off x="0" y="350000"/>
            <a:ext cx="450000" cy="6508000"/>
          </a:xfrm>
          <a:prstGeom prst="rect">
            <a:avLst/>
          </a:prstGeom>
          <a:solidFill>
            <a:srgbClr val="2C44B6"/>
          </a:solidFill>
          <a:ln w="12700">
            <a:solidFill>
              <a:srgbClr val="2C4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Title box"/>
          <p:cNvSpPr txBox="1"/>
          <p:nvPr/>
        </p:nvSpPr>
        <p:spPr>
          <a:xfrm>
            <a:off x="720000" y="580000"/>
            <a:ext cx="6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600" b="1"/>
              <a:t>IMPORT DE DONNEES</a:t>
            </a:r>
            <a:endParaRPr lang="fr-FR" sz="1600"/>
          </a:p>
          <a:p>
            <a:pPr algn="l"/>
            <a:r>
              <a:rPr lang="fr-FR" sz="3000" b="1"/>
              <a:t>Grande fonctionnalite 1</a:t>
            </a:r>
            <a:endParaRPr lang="fr-FR" sz="3000"/>
          </a:p>
          <a:p>
            <a:pPr algn="l"/>
            <a:r>
              <a:rPr lang="fr-FR" sz="1800"/>
              <a:t>Excel / CSV / JSON avec correction avant insertion</a:t>
            </a:r>
            <a:endParaRPr lang="fr-FR" sz="1800"/>
          </a:p>
        </p:txBody>
      </p:sp>
      <p:sp>
        <p:nvSpPr>
          <p:cNvPr id="5" name="Body box"/>
          <p:cNvSpPr txBox="1"/>
          <p:nvPr/>
        </p:nvSpPr>
        <p:spPr>
          <a:xfrm>
            <a:off x="720000" y="2200000"/>
            <a:ext cx="6500000" cy="3200000"/>
          </a:xfrm>
          <a:prstGeom prst="rect">
            <a:avLst/>
          </a:prstGeom>
          <a:solidFill>
            <a:srgbClr val="EEF4FF"/>
          </a:solidFill>
          <a:ln w="19050">
            <a:solidFill>
              <a:srgbClr val="C7D3F2"/>
            </a:solidFill>
          </a:ln>
        </p:spPr>
        <p:txBody>
          <a:bodyPr wrap="square" lIns="152400" tIns="114300" rIns="152400" bIns="114300" anchor="t"/>
          <a:lstStyle/>
          <a:p>
            <a:pPr marL="342900" indent="-228600">
              <a:buChar char="•"/>
            </a:pPr>
            <a:r>
              <a:rPr lang="fr-FR" sz="2000"/>
              <a:t>Chargement du fichier et extraction des colonnes detectees.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Mapping clair des champs obligatoires et optionnels.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Previsualisation editable avant envoi en base.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Journal d import avec erreurs, succes et pages dediees.</a:t>
            </a:r>
            <a:endParaRPr lang="fr-FR" sz="2000"/>
          </a:p>
        </p:txBody>
      </p:sp>
      <p:sp>
        <p:nvSpPr>
          <p:cNvPr id="6" name="Footer box"/>
          <p:cNvSpPr txBox="1"/>
          <p:nvPr/>
        </p:nvSpPr>
        <p:spPr>
          <a:xfrm>
            <a:off x="720000" y="6100000"/>
            <a:ext cx="3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200" b="1"/>
              <a:t>KYA (Keur Ya Aicha) • Slide 9</a:t>
            </a:r>
            <a:endParaRPr lang="fr-FR" sz="1200"/>
          </a:p>
        </p:txBody>
      </p:sp>
      <p:sp>
        <p:nvSpPr>
          <p:cNvPr id="7" name="Page bubble"/>
          <p:cNvSpPr txBox="1"/>
          <p:nvPr/>
        </p:nvSpPr>
        <p:spPr>
          <a:xfrm>
            <a:off x="10800000" y="6050000"/>
            <a:ext cx="600000" cy="420000"/>
          </a:xfrm>
          <a:prstGeom prst="rect">
            <a:avLst/>
          </a:prstGeom>
          <a:solidFill>
            <a:srgbClr val="121B53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500" b="1"/>
              <a:t>9</a:t>
            </a:r>
            <a:endParaRPr lang="fr-FR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ande fonctionnal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50000"/>
          </a:xfrm>
          <a:prstGeom prst="rect">
            <a:avLst/>
          </a:prstGeom>
          <a:solidFill>
            <a:srgbClr val="121B53"/>
          </a:solidFill>
          <a:ln w="12700">
            <a:solidFill>
              <a:srgbClr val="121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Accent bar"/>
          <p:cNvSpPr/>
          <p:nvPr/>
        </p:nvSpPr>
        <p:spPr>
          <a:xfrm>
            <a:off x="0" y="350000"/>
            <a:ext cx="450000" cy="6508000"/>
          </a:xfrm>
          <a:prstGeom prst="rect">
            <a:avLst/>
          </a:prstGeom>
          <a:solidFill>
            <a:srgbClr val="2C44B6"/>
          </a:solidFill>
          <a:ln w="12700">
            <a:solidFill>
              <a:srgbClr val="2C4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Title box"/>
          <p:cNvSpPr txBox="1"/>
          <p:nvPr/>
        </p:nvSpPr>
        <p:spPr>
          <a:xfrm>
            <a:off x="720000" y="580000"/>
            <a:ext cx="6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600" b="1"/>
              <a:t>APPROBATION ADMINISTRATEUR</a:t>
            </a:r>
            <a:endParaRPr lang="fr-FR" sz="1600"/>
          </a:p>
          <a:p>
            <a:pPr algn="l"/>
            <a:r>
              <a:rPr lang="fr-FR" sz="3000" b="1"/>
              <a:t>Grande fonctionnalite 2</a:t>
            </a:r>
            <a:endParaRPr lang="fr-FR" sz="3000"/>
          </a:p>
          <a:p>
            <a:pPr algn="l"/>
            <a:r>
              <a:rPr lang="fr-FR" sz="1800"/>
              <a:t>Demande, validation, creation du compte et notification</a:t>
            </a:r>
            <a:endParaRPr lang="fr-FR" sz="1800"/>
          </a:p>
        </p:txBody>
      </p:sp>
      <p:sp>
        <p:nvSpPr>
          <p:cNvPr id="5" name="Body box"/>
          <p:cNvSpPr txBox="1"/>
          <p:nvPr/>
        </p:nvSpPr>
        <p:spPr>
          <a:xfrm>
            <a:off x="720000" y="2200000"/>
            <a:ext cx="6500000" cy="3200000"/>
          </a:xfrm>
          <a:prstGeom prst="rect">
            <a:avLst/>
          </a:prstGeom>
          <a:solidFill>
            <a:srgbClr val="EEF4FF"/>
          </a:solidFill>
          <a:ln w="19050">
            <a:solidFill>
              <a:srgbClr val="C7D3F2"/>
            </a:solidFill>
          </a:ln>
        </p:spPr>
        <p:txBody>
          <a:bodyPr wrap="square" lIns="152400" tIns="114300" rIns="152400" bIns="114300" anchor="t"/>
          <a:lstStyle/>
          <a:p>
            <a:pPr marL="342900" indent="-228600">
              <a:buChar char="•"/>
            </a:pPr>
            <a:r>
              <a:rPr lang="fr-FR" sz="2000"/>
              <a:t>Le Super Admin valide ou rejette une demande d inscription.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En cas d approbation, user, admin et entreprise sont crees.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Les identifiants sont generes puis notifies.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Le login accepte email ou telephone avec normalisation +221.</a:t>
            </a:r>
            <a:endParaRPr lang="fr-FR" sz="2000"/>
          </a:p>
        </p:txBody>
      </p:sp>
      <p:sp>
        <p:nvSpPr>
          <p:cNvPr id="6" name="Footer box"/>
          <p:cNvSpPr txBox="1"/>
          <p:nvPr/>
        </p:nvSpPr>
        <p:spPr>
          <a:xfrm>
            <a:off x="720000" y="6100000"/>
            <a:ext cx="3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200" b="1"/>
              <a:t>KYA (Keur Ya Aicha) • Slide 10</a:t>
            </a:r>
            <a:endParaRPr lang="fr-FR" sz="1200"/>
          </a:p>
        </p:txBody>
      </p:sp>
      <p:sp>
        <p:nvSpPr>
          <p:cNvPr id="7" name="Page bubble"/>
          <p:cNvSpPr txBox="1"/>
          <p:nvPr/>
        </p:nvSpPr>
        <p:spPr>
          <a:xfrm>
            <a:off x="10800000" y="6050000"/>
            <a:ext cx="600000" cy="420000"/>
          </a:xfrm>
          <a:prstGeom prst="rect">
            <a:avLst/>
          </a:prstGeom>
          <a:solidFill>
            <a:srgbClr val="121B53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500" b="1"/>
              <a:t>10</a:t>
            </a:r>
            <a:endParaRPr lang="fr-FR"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ande fonctionnal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50000"/>
          </a:xfrm>
          <a:prstGeom prst="rect">
            <a:avLst/>
          </a:prstGeom>
          <a:solidFill>
            <a:srgbClr val="121B53"/>
          </a:solidFill>
          <a:ln w="12700">
            <a:solidFill>
              <a:srgbClr val="121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Accent bar"/>
          <p:cNvSpPr/>
          <p:nvPr/>
        </p:nvSpPr>
        <p:spPr>
          <a:xfrm>
            <a:off x="0" y="350000"/>
            <a:ext cx="450000" cy="6508000"/>
          </a:xfrm>
          <a:prstGeom prst="rect">
            <a:avLst/>
          </a:prstGeom>
          <a:solidFill>
            <a:srgbClr val="2C44B6"/>
          </a:solidFill>
          <a:ln w="12700">
            <a:solidFill>
              <a:srgbClr val="2C4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Title box"/>
          <p:cNvSpPr txBox="1"/>
          <p:nvPr/>
        </p:nvSpPr>
        <p:spPr>
          <a:xfrm>
            <a:off x="720000" y="580000"/>
            <a:ext cx="6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600" b="1"/>
              <a:t>PAIEMENT ABONNEMENT ET NOTIFICATIONS</a:t>
            </a:r>
            <a:endParaRPr lang="fr-FR" sz="1600"/>
          </a:p>
          <a:p>
            <a:pPr algn="l"/>
            <a:r>
              <a:rPr lang="fr-FR" sz="3000" b="1"/>
              <a:t>Grande fonctionnalite 3</a:t>
            </a:r>
            <a:endParaRPr lang="fr-FR" sz="3000"/>
          </a:p>
          <a:p>
            <a:pPr algn="l"/>
            <a:r>
              <a:rPr lang="fr-FR" sz="1800"/>
              <a:t>Suivi des regles metier et evenements</a:t>
            </a:r>
            <a:endParaRPr lang="fr-FR" sz="1800"/>
          </a:p>
        </p:txBody>
      </p:sp>
      <p:sp>
        <p:nvSpPr>
          <p:cNvPr id="5" name="Body box"/>
          <p:cNvSpPr txBox="1"/>
          <p:nvPr/>
        </p:nvSpPr>
        <p:spPr>
          <a:xfrm>
            <a:off x="720000" y="2200000"/>
            <a:ext cx="6500000" cy="3200000"/>
          </a:xfrm>
          <a:prstGeom prst="rect">
            <a:avLst/>
          </a:prstGeom>
          <a:solidFill>
            <a:srgbClr val="EEF4FF"/>
          </a:solidFill>
          <a:ln w="19050">
            <a:solidFill>
              <a:srgbClr val="C7D3F2"/>
            </a:solidFill>
          </a:ln>
        </p:spPr>
        <p:txBody>
          <a:bodyPr wrap="square" lIns="152400" tIns="114300" rIns="152400" bIns="114300" anchor="t"/>
          <a:lstStyle/>
          <a:p>
            <a:pPr marL="342900" indent="-228600">
              <a:buChar char="•"/>
            </a:pPr>
            <a:r>
              <a:rPr lang="fr-FR" sz="2000"/>
              <a:t>Controle du mois requis et des doublons de paiement.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Gestion de plusieurs methodes : cash, Wave, Orange Money.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Passage en paid seulement si le paiement est reellement finalise.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Notification transactionnelle vers Super Admin, Admin et Client.</a:t>
            </a:r>
            <a:endParaRPr lang="fr-FR" sz="2000"/>
          </a:p>
        </p:txBody>
      </p:sp>
      <p:sp>
        <p:nvSpPr>
          <p:cNvPr id="6" name="Footer box"/>
          <p:cNvSpPr txBox="1"/>
          <p:nvPr/>
        </p:nvSpPr>
        <p:spPr>
          <a:xfrm>
            <a:off x="720000" y="6100000"/>
            <a:ext cx="3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200" b="1"/>
              <a:t>KYA (Keur Ya Aicha) • Slide 11</a:t>
            </a:r>
            <a:endParaRPr lang="fr-FR" sz="1200"/>
          </a:p>
        </p:txBody>
      </p:sp>
      <p:sp>
        <p:nvSpPr>
          <p:cNvPr id="7" name="Page bubble"/>
          <p:cNvSpPr txBox="1"/>
          <p:nvPr/>
        </p:nvSpPr>
        <p:spPr>
          <a:xfrm>
            <a:off x="10800000" y="6050000"/>
            <a:ext cx="600000" cy="420000"/>
          </a:xfrm>
          <a:prstGeom prst="rect">
            <a:avLst/>
          </a:prstGeom>
          <a:solidFill>
            <a:srgbClr val="121B53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500" b="1"/>
              <a:t>11</a:t>
            </a:r>
            <a:endParaRPr lang="fr-FR"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ploiement et docum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50000"/>
          </a:xfrm>
          <a:prstGeom prst="rect">
            <a:avLst/>
          </a:prstGeom>
          <a:solidFill>
            <a:srgbClr val="121B53"/>
          </a:solidFill>
          <a:ln w="12700">
            <a:solidFill>
              <a:srgbClr val="121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Accent bar"/>
          <p:cNvSpPr/>
          <p:nvPr/>
        </p:nvSpPr>
        <p:spPr>
          <a:xfrm>
            <a:off x="0" y="350000"/>
            <a:ext cx="450000" cy="6508000"/>
          </a:xfrm>
          <a:prstGeom prst="rect">
            <a:avLst/>
          </a:prstGeom>
          <a:solidFill>
            <a:srgbClr val="2C44B6"/>
          </a:solidFill>
          <a:ln w="12700">
            <a:solidFill>
              <a:srgbClr val="2C4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Title box"/>
          <p:cNvSpPr txBox="1"/>
          <p:nvPr/>
        </p:nvSpPr>
        <p:spPr>
          <a:xfrm>
            <a:off x="720000" y="580000"/>
            <a:ext cx="6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600" b="1"/>
              <a:t>PRODUIT DEMONSTRABLE</a:t>
            </a:r>
            <a:endParaRPr lang="fr-FR" sz="1600"/>
          </a:p>
          <a:p>
            <a:pPr algn="l"/>
            <a:r>
              <a:rPr lang="fr-FR" sz="3000" b="1"/>
              <a:t>Deploiement et documentation</a:t>
            </a:r>
            <a:endParaRPr lang="fr-FR" sz="3000"/>
          </a:p>
          <a:p>
            <a:pPr algn="l"/>
            <a:r>
              <a:rPr lang="fr-FR" sz="1800"/>
              <a:t>Liens de production et documentation technique</a:t>
            </a:r>
            <a:endParaRPr lang="fr-FR" sz="1800"/>
          </a:p>
        </p:txBody>
      </p:sp>
      <p:sp>
        <p:nvSpPr>
          <p:cNvPr id="5" name="Body box"/>
          <p:cNvSpPr txBox="1"/>
          <p:nvPr/>
        </p:nvSpPr>
        <p:spPr>
          <a:xfrm>
            <a:off x="720000" y="2200000"/>
            <a:ext cx="6500000" cy="3200000"/>
          </a:xfrm>
          <a:prstGeom prst="rect">
            <a:avLst/>
          </a:prstGeom>
          <a:solidFill>
            <a:srgbClr val="EEF4FF"/>
          </a:solidFill>
          <a:ln w="19050">
            <a:solidFill>
              <a:srgbClr val="C7D3F2"/>
            </a:solidFill>
          </a:ln>
        </p:spPr>
        <p:txBody>
          <a:bodyPr wrap="square" lIns="152400" tIns="114300" rIns="152400" bIns="114300" anchor="t"/>
          <a:lstStyle/>
          <a:p>
            <a:pPr marL="342900" indent="-228600">
              <a:buChar char="•"/>
            </a:pPr>
            <a:r>
              <a:rPr lang="fr-FR" sz="2000"/>
              <a:t>Frontend : https://keur-ya-aicha-frontend.vercel.app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Backend API : https://bakend-next-saas-gestion-client.onrender.com/api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Docs backend : https://bakend-next-saas-gestion-client.onrender.com/docs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Memoire complet, diagrammes UML, annexes code et scripts de generation fournis.</a:t>
            </a:r>
            <a:endParaRPr lang="fr-FR" sz="2000"/>
          </a:p>
        </p:txBody>
      </p:sp>
      <p:sp>
        <p:nvSpPr>
          <p:cNvPr id="6" name="Footer box"/>
          <p:cNvSpPr txBox="1"/>
          <p:nvPr/>
        </p:nvSpPr>
        <p:spPr>
          <a:xfrm>
            <a:off x="720000" y="6100000"/>
            <a:ext cx="3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200" b="1"/>
              <a:t>KYA (Keur Ya Aicha) • Slide 12</a:t>
            </a:r>
            <a:endParaRPr lang="fr-FR" sz="1200"/>
          </a:p>
        </p:txBody>
      </p:sp>
      <p:sp>
        <p:nvSpPr>
          <p:cNvPr id="7" name="Page bubble"/>
          <p:cNvSpPr txBox="1"/>
          <p:nvPr/>
        </p:nvSpPr>
        <p:spPr>
          <a:xfrm>
            <a:off x="10800000" y="6050000"/>
            <a:ext cx="600000" cy="420000"/>
          </a:xfrm>
          <a:prstGeom prst="rect">
            <a:avLst/>
          </a:prstGeom>
          <a:solidFill>
            <a:srgbClr val="121B53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500" b="1"/>
              <a:t>12</a:t>
            </a:r>
            <a:endParaRPr lang="fr-FR"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sultats ob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50000"/>
          </a:xfrm>
          <a:prstGeom prst="rect">
            <a:avLst/>
          </a:prstGeom>
          <a:solidFill>
            <a:srgbClr val="121B53"/>
          </a:solidFill>
          <a:ln w="12700">
            <a:solidFill>
              <a:srgbClr val="121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Accent bar"/>
          <p:cNvSpPr/>
          <p:nvPr/>
        </p:nvSpPr>
        <p:spPr>
          <a:xfrm>
            <a:off x="0" y="350000"/>
            <a:ext cx="450000" cy="6508000"/>
          </a:xfrm>
          <a:prstGeom prst="rect">
            <a:avLst/>
          </a:prstGeom>
          <a:solidFill>
            <a:srgbClr val="2C44B6"/>
          </a:solidFill>
          <a:ln w="12700">
            <a:solidFill>
              <a:srgbClr val="2C4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Title box"/>
          <p:cNvSpPr txBox="1"/>
          <p:nvPr/>
        </p:nvSpPr>
        <p:spPr>
          <a:xfrm>
            <a:off x="720000" y="580000"/>
            <a:ext cx="6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600" b="1"/>
              <a:t>CE QUI EST EFFECTIVEMENT LIVRE</a:t>
            </a:r>
            <a:endParaRPr lang="fr-FR" sz="1600"/>
          </a:p>
          <a:p>
            <a:pPr algn="l"/>
            <a:r>
              <a:rPr lang="fr-FR" sz="3000" b="1"/>
              <a:t>Resultats obtenus</a:t>
            </a:r>
            <a:endParaRPr lang="fr-FR" sz="3000"/>
          </a:p>
          <a:p>
            <a:pPr algn="l"/>
            <a:r>
              <a:rPr lang="fr-FR" sz="1800"/>
              <a:t>Bilan du projet</a:t>
            </a:r>
            <a:endParaRPr lang="fr-FR" sz="1800"/>
          </a:p>
        </p:txBody>
      </p:sp>
      <p:sp>
        <p:nvSpPr>
          <p:cNvPr id="5" name="Body box"/>
          <p:cNvSpPr txBox="1"/>
          <p:nvPr/>
        </p:nvSpPr>
        <p:spPr>
          <a:xfrm>
            <a:off x="720000" y="2200000"/>
            <a:ext cx="6500000" cy="3200000"/>
          </a:xfrm>
          <a:prstGeom prst="rect">
            <a:avLst/>
          </a:prstGeom>
          <a:solidFill>
            <a:srgbClr val="EEF4FF"/>
          </a:solidFill>
          <a:ln w="19050">
            <a:solidFill>
              <a:srgbClr val="C7D3F2"/>
            </a:solidFill>
          </a:ln>
        </p:spPr>
        <p:txBody>
          <a:bodyPr wrap="square" lIns="152400" tIns="114300" rIns="152400" bIns="114300" anchor="t"/>
          <a:lstStyle/>
          <a:p>
            <a:pPr marL="342900" indent="-228600">
              <a:buChar char="•"/>
            </a:pPr>
            <a:r>
              <a:rPr lang="fr-FR" sz="2000"/>
              <a:t>Application web cohérente et responsive.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Backend structuré et industrialisable.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Import robuste avec pages succes / erreurs.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Pack de soutenance complet : mémoire, UML, slides, oral, FAQ jury.</a:t>
            </a:r>
            <a:endParaRPr lang="fr-FR" sz="2000"/>
          </a:p>
        </p:txBody>
      </p:sp>
      <p:sp>
        <p:nvSpPr>
          <p:cNvPr id="6" name="Footer box"/>
          <p:cNvSpPr txBox="1"/>
          <p:nvPr/>
        </p:nvSpPr>
        <p:spPr>
          <a:xfrm>
            <a:off x="720000" y="6100000"/>
            <a:ext cx="3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200" b="1"/>
              <a:t>KYA (Keur Ya Aicha) • Slide 13</a:t>
            </a:r>
            <a:endParaRPr lang="fr-FR" sz="1200"/>
          </a:p>
        </p:txBody>
      </p:sp>
      <p:sp>
        <p:nvSpPr>
          <p:cNvPr id="7" name="Page bubble"/>
          <p:cNvSpPr txBox="1"/>
          <p:nvPr/>
        </p:nvSpPr>
        <p:spPr>
          <a:xfrm>
            <a:off x="10800000" y="6050000"/>
            <a:ext cx="600000" cy="420000"/>
          </a:xfrm>
          <a:prstGeom prst="rect">
            <a:avLst/>
          </a:prstGeom>
          <a:solidFill>
            <a:srgbClr val="121B53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500" b="1"/>
              <a:t>13</a:t>
            </a:r>
            <a:endParaRPr lang="fr-FR"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lan de 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50000"/>
          </a:xfrm>
          <a:prstGeom prst="rect">
            <a:avLst/>
          </a:prstGeom>
          <a:solidFill>
            <a:srgbClr val="121B53"/>
          </a:solidFill>
          <a:ln w="12700">
            <a:solidFill>
              <a:srgbClr val="121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Accent bar"/>
          <p:cNvSpPr/>
          <p:nvPr/>
        </p:nvSpPr>
        <p:spPr>
          <a:xfrm>
            <a:off x="0" y="350000"/>
            <a:ext cx="450000" cy="6508000"/>
          </a:xfrm>
          <a:prstGeom prst="rect">
            <a:avLst/>
          </a:prstGeom>
          <a:solidFill>
            <a:srgbClr val="2C44B6"/>
          </a:solidFill>
          <a:ln w="12700">
            <a:solidFill>
              <a:srgbClr val="2C4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Title box"/>
          <p:cNvSpPr txBox="1"/>
          <p:nvPr/>
        </p:nvSpPr>
        <p:spPr>
          <a:xfrm>
            <a:off x="720000" y="580000"/>
            <a:ext cx="6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600" b="1"/>
              <a:t>PARCOURS LIVE RECOMMANDE</a:t>
            </a:r>
            <a:endParaRPr lang="fr-FR" sz="1600"/>
          </a:p>
          <a:p>
            <a:pPr algn="l"/>
            <a:r>
              <a:rPr lang="fr-FR" sz="3000" b="1"/>
              <a:t>Plan de demonstration</a:t>
            </a:r>
            <a:endParaRPr lang="fr-FR" sz="3000"/>
          </a:p>
          <a:p>
            <a:pPr algn="l"/>
            <a:r>
              <a:rPr lang="fr-FR" sz="1800"/>
              <a:t>Comment montrer rapidement la valeur du produit</a:t>
            </a:r>
            <a:endParaRPr lang="fr-FR" sz="1800"/>
          </a:p>
        </p:txBody>
      </p:sp>
      <p:sp>
        <p:nvSpPr>
          <p:cNvPr id="5" name="Body box"/>
          <p:cNvSpPr txBox="1"/>
          <p:nvPr/>
        </p:nvSpPr>
        <p:spPr>
          <a:xfrm>
            <a:off x="720000" y="2200000"/>
            <a:ext cx="6500000" cy="3200000"/>
          </a:xfrm>
          <a:prstGeom prst="rect">
            <a:avLst/>
          </a:prstGeom>
          <a:solidFill>
            <a:srgbClr val="EEF4FF"/>
          </a:solidFill>
          <a:ln w="19050">
            <a:solidFill>
              <a:srgbClr val="C7D3F2"/>
            </a:solidFill>
          </a:ln>
        </p:spPr>
        <p:txBody>
          <a:bodyPr wrap="square" lIns="152400" tIns="114300" rIns="152400" bIns="114300" anchor="t"/>
          <a:lstStyle/>
          <a:p>
            <a:pPr marL="342900" indent="-228600">
              <a:buChar char="•"/>
            </a:pPr>
            <a:r>
              <a:rPr lang="fr-FR" sz="2000"/>
              <a:t>Connexion Super Admin et validation d une demande admin.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Connexion Admin, creation d un client et d une location.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Import d un fichier avec erreurs puis correction.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Paiement abonnement et visualisation des notifications / statuts.</a:t>
            </a:r>
            <a:endParaRPr lang="fr-FR" sz="2000"/>
          </a:p>
        </p:txBody>
      </p:sp>
      <p:sp>
        <p:nvSpPr>
          <p:cNvPr id="6" name="Footer box"/>
          <p:cNvSpPr txBox="1"/>
          <p:nvPr/>
        </p:nvSpPr>
        <p:spPr>
          <a:xfrm>
            <a:off x="720000" y="6100000"/>
            <a:ext cx="3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200" b="1"/>
              <a:t>KYA (Keur Ya Aicha) • Slide 14</a:t>
            </a:r>
            <a:endParaRPr lang="fr-FR" sz="1200"/>
          </a:p>
        </p:txBody>
      </p:sp>
      <p:sp>
        <p:nvSpPr>
          <p:cNvPr id="7" name="Page bubble"/>
          <p:cNvSpPr txBox="1"/>
          <p:nvPr/>
        </p:nvSpPr>
        <p:spPr>
          <a:xfrm>
            <a:off x="10800000" y="6050000"/>
            <a:ext cx="600000" cy="420000"/>
          </a:xfrm>
          <a:prstGeom prst="rect">
            <a:avLst/>
          </a:prstGeom>
          <a:solidFill>
            <a:srgbClr val="121B53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500" b="1"/>
              <a:t>14</a:t>
            </a:r>
            <a:endParaRPr lang="fr-FR"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clusion et persp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50000"/>
          </a:xfrm>
          <a:prstGeom prst="rect">
            <a:avLst/>
          </a:prstGeom>
          <a:solidFill>
            <a:srgbClr val="121B53"/>
          </a:solidFill>
          <a:ln w="12700">
            <a:solidFill>
              <a:srgbClr val="121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Accent bar"/>
          <p:cNvSpPr/>
          <p:nvPr/>
        </p:nvSpPr>
        <p:spPr>
          <a:xfrm>
            <a:off x="0" y="350000"/>
            <a:ext cx="450000" cy="6508000"/>
          </a:xfrm>
          <a:prstGeom prst="rect">
            <a:avLst/>
          </a:prstGeom>
          <a:solidFill>
            <a:srgbClr val="2C44B6"/>
          </a:solidFill>
          <a:ln w="12700">
            <a:solidFill>
              <a:srgbClr val="2C4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Title box"/>
          <p:cNvSpPr txBox="1"/>
          <p:nvPr/>
        </p:nvSpPr>
        <p:spPr>
          <a:xfrm>
            <a:off x="720000" y="580000"/>
            <a:ext cx="6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600" b="1"/>
              <a:t>OUVERTURE</a:t>
            </a:r>
            <a:endParaRPr lang="fr-FR" sz="1600"/>
          </a:p>
          <a:p>
            <a:pPr algn="l"/>
            <a:r>
              <a:rPr lang="fr-FR" sz="3000" b="1"/>
              <a:t>Conclusion et perspectives</a:t>
            </a:r>
            <a:endParaRPr lang="fr-FR" sz="3000"/>
          </a:p>
          <a:p>
            <a:pPr algn="l"/>
            <a:r>
              <a:rPr lang="fr-FR" sz="1800"/>
              <a:t>Ce que le projet prouve et ce qui vient ensuite</a:t>
            </a:r>
            <a:endParaRPr lang="fr-FR" sz="1800"/>
          </a:p>
        </p:txBody>
      </p:sp>
      <p:sp>
        <p:nvSpPr>
          <p:cNvPr id="5" name="Body box"/>
          <p:cNvSpPr txBox="1"/>
          <p:nvPr/>
        </p:nvSpPr>
        <p:spPr>
          <a:xfrm>
            <a:off x="720000" y="2200000"/>
            <a:ext cx="6500000" cy="3200000"/>
          </a:xfrm>
          <a:prstGeom prst="rect">
            <a:avLst/>
          </a:prstGeom>
          <a:solidFill>
            <a:srgbClr val="EEF4FF"/>
          </a:solidFill>
          <a:ln w="19050">
            <a:solidFill>
              <a:srgbClr val="C7D3F2"/>
            </a:solidFill>
          </a:ln>
        </p:spPr>
        <p:txBody>
          <a:bodyPr wrap="square" lIns="152400" tIns="114300" rIns="152400" bIns="114300" anchor="t"/>
          <a:lstStyle/>
          <a:p>
            <a:pPr marL="342900" indent="-228600">
              <a:buChar char="•"/>
            </a:pPr>
            <a:r>
              <a:rPr lang="fr-FR" sz="2000"/>
              <a:t>KYA constitue une base serieuse de SaaS de gestion locative.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L architecture permet l evolution vers analytics, SMS/WhatsApp et CI/CD complet.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Le projet combine valeur metier, gouvernance et rigueur technique.</a:t>
            </a:r>
            <a:endParaRPr lang="fr-FR" sz="2000"/>
          </a:p>
          <a:p>
            <a:pPr marL="342900" indent="-228600">
              <a:buChar char="•"/>
            </a:pPr>
            <a:r>
              <a:rPr lang="fr-FR" sz="2000"/>
              <a:t>Merci de votre attention.</a:t>
            </a:r>
            <a:endParaRPr lang="fr-FR" sz="2000"/>
          </a:p>
        </p:txBody>
      </p:sp>
      <p:sp>
        <p:nvSpPr>
          <p:cNvPr id="6" name="Footer box"/>
          <p:cNvSpPr txBox="1"/>
          <p:nvPr/>
        </p:nvSpPr>
        <p:spPr>
          <a:xfrm>
            <a:off x="720000" y="6100000"/>
            <a:ext cx="3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200" b="1"/>
              <a:t>KYA (Keur Ya Aicha) • Slide 15</a:t>
            </a:r>
            <a:endParaRPr lang="fr-FR" sz="1200"/>
          </a:p>
        </p:txBody>
      </p:sp>
      <p:sp>
        <p:nvSpPr>
          <p:cNvPr id="7" name="Page bubble"/>
          <p:cNvSpPr txBox="1"/>
          <p:nvPr/>
        </p:nvSpPr>
        <p:spPr>
          <a:xfrm>
            <a:off x="10800000" y="6050000"/>
            <a:ext cx="600000" cy="420000"/>
          </a:xfrm>
          <a:prstGeom prst="rect">
            <a:avLst/>
          </a:prstGeom>
          <a:solidFill>
            <a:srgbClr val="121B53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/>
            <a:r>
              <a:rPr lang="fr-FR" sz="1500" b="1"/>
              <a:t>15</a:t>
            </a:r>
            <a:endParaRPr lang="fr-FR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YA Theme">
  <a:themeElements>
    <a:clrScheme name="KYA">
      <a:dk1>
        <a:srgbClr val="121B53"/>
      </a:dk1>
      <a:lt1>
        <a:srgbClr val="FFFFFF"/>
      </a:lt1>
      <a:dk2>
        <a:srgbClr val="203A7B"/>
      </a:dk2>
      <a:lt2>
        <a:srgbClr val="EEF4FF"/>
      </a:lt2>
      <a:accent1>
        <a:srgbClr val="2C44B6"/>
      </a:accent1>
      <a:accent2>
        <a:srgbClr val="E38A14"/>
      </a:accent2>
      <a:accent3>
        <a:srgbClr val="18A35F"/>
      </a:accent3>
      <a:accent4>
        <a:srgbClr val="6474A3"/>
      </a:accent4>
      <a:accent5>
        <a:srgbClr val="D9485F"/>
      </a:accent5>
      <a:accent6>
        <a:srgbClr val="6B7AD3"/>
      </a:accent6>
      <a:hlink>
        <a:srgbClr val="2C44B6"/>
      </a:hlink>
      <a:folHlink>
        <a:srgbClr val="121B53"/>
      </a:folHlink>
    </a:clrScheme>
    <a:fontScheme name="KYA Fonts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KYA Format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accent1"/>
          </a:solidFill>
        </a:ln>
        <a:ln w="25400">
          <a:solidFill>
            <a:schemeClr val="accent2"/>
          </a:solidFill>
        </a:ln>
        <a:ln w="38100">
          <a:solidFill>
            <a:schemeClr val="accent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15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15</vt:i4>
      </vt:variant>
    </vt:vector>
  </HeadingPairs>
  <TitlesOfParts>
    <vt:vector size="15" baseType="lpstr">
      <vt:lpstr>Soutenance</vt:lpstr>
      <vt:lpstr>Problematique</vt:lpstr>
      <vt:lpstr>Objectif et valeur</vt:lpstr>
      <vt:lpstr>Acteurs et perimetre</vt:lpstr>
      <vt:lpstr>Architecture globale</vt:lpstr>
      <vt:lpstr>Architecture frontend</vt:lpstr>
      <vt:lpstr>Architecture backend</vt:lpstr>
      <vt:lpstr>Modele de donnees et securite</vt:lpstr>
      <vt:lpstr>Grande fonctionnalite 1</vt:lpstr>
      <vt:lpstr>Grande fonctionnalite 2</vt:lpstr>
      <vt:lpstr>Grande fonctionnalite 3</vt:lpstr>
      <vt:lpstr>Deploiement et documentation</vt:lpstr>
      <vt:lpstr>Resultats obtenus</vt:lpstr>
      <vt:lpstr>Plan de demonstration</vt:lpstr>
      <vt:lpstr>Conclusion et perspectives</vt:lpstr>
    </vt:vector>
  </TitlesOfParts>
  <Company>Orange Digital Center</Company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KYA (Keur Ya Aicha) - Presentation de soutenance</dc:title>
  <dc:creator>Papa Malick Teuw</dc:creator>
  <cp:lastModifiedBy>Codex</cp:lastModifiedBy>
  <dcterms:created xsi:type="dcterms:W3CDTF">2026-03-07T02:57:00.549Z</dcterms:created>
  <dcterms:modified xsi:type="dcterms:W3CDTF">2026-03-07T02:57:00.549Z</dcterms:modified>
</cp:coreProperties>
</file>